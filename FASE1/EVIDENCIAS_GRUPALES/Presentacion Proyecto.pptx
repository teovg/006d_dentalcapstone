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SLIDES_API123800302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SLIDES_API1238003023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SLIDES_API1238003023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c3784b85_0_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9c3784b85_0_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9c3784b85_0_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SLIDES_API1238003023_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SLIDES_API1238003023_4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SLIDES_API1238003023_4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1238003023_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SLIDES_API1238003023_8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SLIDES_API1238003023_8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LIDES_API1238003023_1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SLIDES_API1238003023_1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SLIDES_API1238003023_1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SLIDES_API1238003023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SLIDES_API1238003023_1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SLIDES_API1238003023_1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238003023_2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SLIDES_API1238003023_20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SLIDES_API1238003023_20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SLIDES_API1238003023_2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SLIDES_API1238003023_2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SLIDES_API1238003023_2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SLIDES_API1238003023_2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SLIDES_API1238003023_2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SLIDES_API1238003023_2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SLIDES_API1238003023_3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SLIDES_API1238003023_30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SLIDES_API1238003023_30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SLIDES_API1238003023_3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SLIDES_API1238003023_34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SLIDES_API1238003023_34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SLIDES_API1238003023_3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SLIDES_API1238003023_3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SLIDES_API1238003023_3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SLIDES_API1238003023_3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SLIDES_API1238003023_3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SLIDES_API1238003023_3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3.png"/><Relationship Id="rId5" Type="http://schemas.openxmlformats.org/officeDocument/2006/relationships/image" Target="../media/image35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5.png"/><Relationship Id="rId12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Relationship Id="rId5" Type="http://schemas.openxmlformats.org/officeDocument/2006/relationships/image" Target="../media/image38.png"/><Relationship Id="rId6" Type="http://schemas.openxmlformats.org/officeDocument/2006/relationships/image" Target="../media/image32.png"/><Relationship Id="rId7" Type="http://schemas.openxmlformats.org/officeDocument/2006/relationships/image" Target="../media/image36.png"/><Relationship Id="rId8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40.png"/><Relationship Id="rId7" Type="http://schemas.openxmlformats.org/officeDocument/2006/relationships/image" Target="../media/image34.png"/><Relationship Id="rId8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image" Target="../media/image49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Relationship Id="rId7" Type="http://schemas.openxmlformats.org/officeDocument/2006/relationships/image" Target="../media/image54.png"/><Relationship Id="rId8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53.jpg"/><Relationship Id="rId5" Type="http://schemas.openxmlformats.org/officeDocument/2006/relationships/image" Target="../media/image60.png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508000" y="558800"/>
            <a:ext cx="457200" cy="457200"/>
          </a:xfrm>
          <a:prstGeom prst="roundRect">
            <a:avLst>
              <a:gd fmla="val 22222" name="adj"/>
            </a:avLst>
          </a:prstGeom>
          <a:solidFill>
            <a:srgbClr val="20B2AA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" y="6477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1092200" y="609600"/>
            <a:ext cx="279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DentalTrack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508000" y="1651000"/>
            <a:ext cx="8127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Plataforma Móvil para la Gestión y Trazabilidad del Historial Odontológico Personal mediante </a:t>
            </a:r>
            <a:r>
              <a:rPr b="1" i="0" lang="es" sz="2700" u="none" cap="none" strike="noStrike">
                <a:solidFill>
                  <a:srgbClr val="20B2AA"/>
                </a:solidFill>
                <a:latin typeface="Trebuchet MS"/>
                <a:ea typeface="Trebuchet MS"/>
                <a:cs typeface="Trebuchet MS"/>
                <a:sym typeface="Trebuchet MS"/>
              </a:rPr>
              <a:t>Odontograma Interactivo</a:t>
            </a:r>
            <a:r>
              <a:rPr b="1" i="0" lang="e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e </a:t>
            </a:r>
            <a:r>
              <a:rPr b="1" i="0" lang="es" sz="27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Ingesta Asistida de Documentos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08000" y="4064000"/>
            <a:ext cx="5282100" cy="660300"/>
          </a:xfrm>
          <a:prstGeom prst="roundRect">
            <a:avLst>
              <a:gd fmla="val 15385" name="adj"/>
            </a:avLst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08000" y="4064000"/>
            <a:ext cx="50700" cy="660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/>
        </p:nvSpPr>
        <p:spPr>
          <a:xfrm>
            <a:off x="711200" y="4165600"/>
            <a:ext cx="49245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Leo Gutierrez</a:t>
            </a: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0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Ignacio Contreras </a:t>
            </a:r>
            <a:r>
              <a:rPr lang="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Estudiantes Ing. </a:t>
            </a:r>
            <a:r>
              <a:rPr b="1"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Informática</a:t>
            </a:r>
            <a:r>
              <a:rPr b="1" lang="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DuocUC</a:t>
            </a:r>
            <a:endParaRPr b="1"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508000" y="3810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E24"/>
              </a:buClr>
              <a:buSzPts val="3000"/>
              <a:buFont typeface="Trebuchet MS"/>
              <a:buNone/>
            </a:pPr>
            <a:r>
              <a:rPr b="1" i="0" lang="es" sz="22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Índice </a:t>
            </a:r>
            <a:endParaRPr b="1" i="0" sz="2200" u="none" cap="none" strike="noStrike">
              <a:solidFill>
                <a:srgbClr val="1A2B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08000" y="1016000"/>
            <a:ext cx="8127900" cy="660300"/>
          </a:xfrm>
          <a:prstGeom prst="roundRect">
            <a:avLst>
              <a:gd fmla="val 15385" name="adj"/>
            </a:avLst>
          </a:prstGeom>
          <a:solidFill>
            <a:srgbClr val="0D5C75"/>
          </a:solidFill>
          <a:ln>
            <a:noFill/>
          </a:ln>
          <a:effectLst>
            <a:outerShdw blurRad="152400" rotWithShape="0" algn="bl" dir="54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711200" y="1117600"/>
            <a:ext cx="772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NARRATIVA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711200" y="1346200"/>
            <a:ext cx="772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problema → impacto → solución → ingeniería → viabilidad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08000" y="1930400"/>
            <a:ext cx="3936900" cy="215910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08000" y="1930400"/>
            <a:ext cx="50700" cy="21591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711200" y="2082800"/>
            <a:ext cx="3555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Introducción y contexto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Solución tecnológica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Metodología, plan y roles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Mapa tecnológico y arquitectura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2B30"/>
              </a:buClr>
              <a:buSzPts val="1300"/>
              <a:buFont typeface="Calibri"/>
              <a:buAutoNum type="arabicPeriod"/>
            </a:pP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Competencias del perfil de egreso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699000" y="1930400"/>
            <a:ext cx="3936900" cy="215910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699000" y="1930400"/>
            <a:ext cx="50700" cy="2159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4889500" y="2086550"/>
            <a:ext cx="35559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Riesgos y mitigación</a:t>
            </a:r>
            <a:endParaRPr sz="1300">
              <a:solidFill>
                <a:srgbClr val="1E2B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Seguridad y privacidad</a:t>
            </a:r>
            <a:endParaRPr sz="1300">
              <a:solidFill>
                <a:srgbClr val="1E2B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9.</a:t>
            </a: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Mockup</a:t>
            </a:r>
            <a:endParaRPr sz="1300">
              <a:solidFill>
                <a:srgbClr val="1E2B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300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11. </a:t>
            </a:r>
            <a:r>
              <a:rPr b="0" i="0" lang="es" sz="1300" u="none" cap="none" strike="noStrike">
                <a:solidFill>
                  <a:srgbClr val="1E2B30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08000" y="4318000"/>
            <a:ext cx="8127900" cy="12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508000" y="381000"/>
            <a:ext cx="5588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200"/>
              <a:buFont typeface="Trebuchet MS"/>
              <a:buNone/>
            </a:pPr>
            <a:r>
              <a:rPr b="1" i="0" lang="es" sz="22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1. Introducción y contexto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508000" y="990600"/>
            <a:ext cx="4572000" cy="685800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508000" y="990600"/>
            <a:ext cx="50700" cy="6858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11200" y="1092200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La atención odontológica en Chile se distribuye entre prestadores </a:t>
            </a:r>
            <a:r>
              <a:rPr b="1" i="0" lang="es" sz="12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públicos y privados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508000" y="1803400"/>
            <a:ext cx="4572000" cy="685800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08000" y="1803400"/>
            <a:ext cx="50700" cy="6858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711200" y="1905000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La información clínica se genera en </a:t>
            </a:r>
            <a:r>
              <a:rPr b="1" i="0" lang="es" sz="12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múltiples atenciones y establecimientos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08000" y="2616200"/>
            <a:ext cx="4572000" cy="685800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508000" y="2616200"/>
            <a:ext cx="50700" cy="6858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711200" y="2717800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Ortodoncia, endodoncia y prótesis requieren </a:t>
            </a:r>
            <a:r>
              <a:rPr b="1" i="0" lang="es" sz="12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continuidad por meses o años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08000" y="3429000"/>
            <a:ext cx="4572000" cy="685800"/>
          </a:xfrm>
          <a:prstGeom prst="roundRect">
            <a:avLst>
              <a:gd fmla="val 14815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08000" y="3429000"/>
            <a:ext cx="50700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711200" y="3530600"/>
            <a:ext cx="4216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El paciente conserva documentos </a:t>
            </a:r>
            <a:r>
              <a:rPr b="1" i="0" lang="e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dispersos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: presupuestos, radiografías e indicaciones.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08000" y="4267200"/>
            <a:ext cx="4572000" cy="558900"/>
          </a:xfrm>
          <a:prstGeom prst="roundRect">
            <a:avLst>
              <a:gd fmla="val 18182" name="adj"/>
            </a:avLst>
          </a:prstGeom>
          <a:solidFill>
            <a:srgbClr val="1A2B4C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711200" y="4343400"/>
            <a:ext cx="421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B2AA"/>
              </a:buClr>
              <a:buSzPts val="1150"/>
              <a:buFont typeface="Calibri"/>
              <a:buNone/>
            </a:pPr>
            <a:r>
              <a:rPr b="1" i="0" lang="es" sz="1150" u="none" cap="none" strike="noStrike">
                <a:solidFill>
                  <a:srgbClr val="20B2AA"/>
                </a:solidFill>
                <a:latin typeface="Calibri"/>
                <a:ea typeface="Calibri"/>
                <a:cs typeface="Calibri"/>
                <a:sym typeface="Calibri"/>
              </a:rPr>
              <a:t>Oportunidad:</a:t>
            </a:r>
            <a:r>
              <a:rPr b="0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una capa personal y portable de información odontológica.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384800" y="990600"/>
            <a:ext cx="3302100" cy="215910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0" y="1037419"/>
            <a:ext cx="3098798" cy="20653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/>
          <p:nvPr/>
        </p:nvSpPr>
        <p:spPr>
          <a:xfrm>
            <a:off x="5384800" y="3327400"/>
            <a:ext cx="3302100" cy="9906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5588000" y="3581400"/>
            <a:ext cx="482700" cy="482700"/>
          </a:xfrm>
          <a:prstGeom prst="ellipse">
            <a:avLst/>
          </a:prstGeom>
          <a:solidFill>
            <a:srgbClr val="20B2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2300" y="3695700"/>
            <a:ext cx="254000" cy="25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7"/>
          <p:cNvCxnSpPr/>
          <p:nvPr/>
        </p:nvCxnSpPr>
        <p:spPr>
          <a:xfrm>
            <a:off x="6121400" y="3822700"/>
            <a:ext cx="355500" cy="0"/>
          </a:xfrm>
          <a:prstGeom prst="straightConnector1">
            <a:avLst/>
          </a:prstGeom>
          <a:noFill/>
          <a:ln cap="flat" cmpd="sng" w="19050">
            <a:solidFill>
              <a:srgbClr val="1A2B4C">
                <a:alpha val="60000"/>
              </a:srgbClr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" name="Google Shape;107;p17"/>
          <p:cNvSpPr/>
          <p:nvPr/>
        </p:nvSpPr>
        <p:spPr>
          <a:xfrm>
            <a:off x="6527800" y="3581400"/>
            <a:ext cx="482700" cy="482700"/>
          </a:xfrm>
          <a:prstGeom prst="ellipse">
            <a:avLst/>
          </a:prstGeom>
          <a:solidFill>
            <a:srgbClr val="1A2B4C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2100" y="3695700"/>
            <a:ext cx="254000" cy="25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7"/>
          <p:cNvCxnSpPr/>
          <p:nvPr/>
        </p:nvCxnSpPr>
        <p:spPr>
          <a:xfrm>
            <a:off x="7061200" y="3822700"/>
            <a:ext cx="355500" cy="0"/>
          </a:xfrm>
          <a:prstGeom prst="straightConnector1">
            <a:avLst/>
          </a:prstGeom>
          <a:noFill/>
          <a:ln cap="flat" cmpd="sng" w="19050">
            <a:solidFill>
              <a:srgbClr val="1A2B4C">
                <a:alpha val="6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p17"/>
          <p:cNvSpPr/>
          <p:nvPr/>
        </p:nvSpPr>
        <p:spPr>
          <a:xfrm>
            <a:off x="7467600" y="3581400"/>
            <a:ext cx="482700" cy="482700"/>
          </a:xfrm>
          <a:prstGeom prst="ellipse">
            <a:avLst/>
          </a:prstGeom>
          <a:solidFill>
            <a:srgbClr val="FF6B6B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1900" y="3695700"/>
            <a:ext cx="254000" cy="25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/>
          <p:nvPr/>
        </p:nvCxnSpPr>
        <p:spPr>
          <a:xfrm>
            <a:off x="8001000" y="3822700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1A2B4C">
                <a:alpha val="60000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113" name="Google Shape;11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0400" y="36830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5588000" y="3403600"/>
            <a:ext cx="2895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Flujo actual: paciente ↔ clínica ↔ documentos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6400" y="447040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5791200" y="4419600"/>
            <a:ext cx="2895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100"/>
              <a:buFont typeface="Calibri"/>
              <a:buNone/>
            </a:pPr>
            <a:r>
              <a:rPr b="0" i="1" lang="es" sz="11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"DentalTrack propone una capa digital personal centrada en el paciente."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508000" y="406400"/>
            <a:ext cx="8127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600"/>
              <a:buFont typeface="Trebuchet MS"/>
              <a:buNone/>
            </a:pPr>
            <a:r>
              <a:rPr b="1" i="0" lang="es" sz="26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2. Problemática: pérdida de continuidad y </a:t>
            </a:r>
            <a:r>
              <a:rPr b="1" i="0" lang="es" sz="2600" u="none" cap="none" strike="noStrike">
                <a:solidFill>
                  <a:srgbClr val="20B2AA"/>
                </a:solidFill>
                <a:latin typeface="Trebuchet MS"/>
                <a:ea typeface="Trebuchet MS"/>
                <a:cs typeface="Trebuchet MS"/>
                <a:sym typeface="Trebuchet MS"/>
              </a:rPr>
              <a:t>asimetría de información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508000" y="1270000"/>
            <a:ext cx="3810000" cy="24129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08000" y="1270000"/>
            <a:ext cx="50700" cy="24129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736600" y="1422400"/>
            <a:ext cx="337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600"/>
              <a:buFont typeface="Trebuchet MS"/>
              <a:buNone/>
            </a:pPr>
            <a:r>
              <a:rPr b="1" i="0" lang="es" sz="16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Situación actual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000" y="1828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7800" y="1930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5400" y="2413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6000" y="2438400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8"/>
          <p:cNvCxnSpPr/>
          <p:nvPr/>
        </p:nvCxnSpPr>
        <p:spPr>
          <a:xfrm>
            <a:off x="762000" y="2997200"/>
            <a:ext cx="3327300" cy="0"/>
          </a:xfrm>
          <a:prstGeom prst="straightConnector1">
            <a:avLst/>
          </a:prstGeom>
          <a:noFill/>
          <a:ln cap="flat" cmpd="sng" w="12700">
            <a:solidFill>
              <a:srgbClr val="1A2B4C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8"/>
          <p:cNvSpPr txBox="1"/>
          <p:nvPr/>
        </p:nvSpPr>
        <p:spPr>
          <a:xfrm>
            <a:off x="736600" y="3124200"/>
            <a:ext cx="337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Presupuestos, radiografías, exámenes e indicaciones fragmentados en distintos soportes y sistemas (ERP) ajenos al paciente.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8"/>
          <p:cNvCxnSpPr/>
          <p:nvPr/>
        </p:nvCxnSpPr>
        <p:spPr>
          <a:xfrm>
            <a:off x="4394200" y="2476500"/>
            <a:ext cx="355500" cy="0"/>
          </a:xfrm>
          <a:prstGeom prst="straightConnector1">
            <a:avLst/>
          </a:prstGeom>
          <a:noFill/>
          <a:ln cap="flat" cmpd="sng" w="31750">
            <a:solidFill>
              <a:srgbClr val="FF6B6B"/>
            </a:solidFill>
            <a:prstDash val="lgDash"/>
            <a:round/>
            <a:headEnd len="sm" w="sm" type="none"/>
            <a:tailEnd len="med" w="med" type="triangle"/>
          </a:ln>
        </p:spPr>
      </p:cxnSp>
      <p:pic>
        <p:nvPicPr>
          <p:cNvPr descr="preencoded.png" id="134" name="Google Shape;13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8000" y="2616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4876800" y="1270000"/>
            <a:ext cx="3810000" cy="24129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4876800" y="1270000"/>
            <a:ext cx="50700" cy="24129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105400" y="1422400"/>
            <a:ext cx="337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600"/>
              <a:buFont typeface="Trebuchet MS"/>
              <a:buNone/>
            </a:pPr>
            <a:r>
              <a:rPr b="1" i="0" lang="es" sz="16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Dolor del paciente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05400" y="18542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5461000" y="1828800"/>
            <a:ext cx="3048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Sin historial estructurado propio: al cambiar de profesional debe reconstruir sus antecedentes.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05400" y="24384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461000" y="2413000"/>
            <a:ext cx="3048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Baja visibilidad de su estado dental y fricción para decidir.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05400" y="294640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461000" y="2921000"/>
            <a:ext cx="30480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Riesgo de olvidar controles preventivos.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508000" y="3860800"/>
            <a:ext cx="8178900" cy="711300"/>
          </a:xfrm>
          <a:prstGeom prst="roundRect">
            <a:avLst>
              <a:gd fmla="val 14286" name="adj"/>
            </a:avLst>
          </a:prstGeom>
          <a:solidFill>
            <a:srgbClr val="1A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1200" y="40386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1168400" y="3962400"/>
            <a:ext cx="7365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B2AA"/>
              </a:buClr>
              <a:buSzPts val="1300"/>
              <a:buFont typeface="Calibri"/>
              <a:buNone/>
            </a:pPr>
            <a:r>
              <a:rPr b="1" i="0" lang="es" sz="1300" u="none" cap="none" strike="noStrike">
                <a:solidFill>
                  <a:srgbClr val="20B2AA"/>
                </a:solidFill>
                <a:latin typeface="Calibri"/>
                <a:ea typeface="Calibri"/>
                <a:cs typeface="Calibri"/>
                <a:sym typeface="Calibri"/>
              </a:rPr>
              <a:t>Pregunta de diseño: </a:t>
            </a:r>
            <a:r>
              <a:rPr b="0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entregar control, portabilidad y trazabilidad sin depender de integrar cada ERP clínico existente?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508000" y="355600"/>
            <a:ext cx="812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400"/>
              <a:buFont typeface="Trebuchet MS"/>
              <a:buNone/>
            </a:pPr>
            <a:r>
              <a:rPr b="1" i="0" lang="es" sz="24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3. Solución tecnológica: DentalTrack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508000" y="762000"/>
            <a:ext cx="812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Ecosistema B2C de autogestión y trazabilidad odontológica — </a:t>
            </a:r>
            <a:r>
              <a:rPr b="1" i="0" lang="e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no es una agenda tradicional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08000" y="1168400"/>
            <a:ext cx="3048000" cy="2921100"/>
          </a:xfrm>
          <a:prstGeom prst="roundRect">
            <a:avLst>
              <a:gd fmla="val 3478" name="adj"/>
            </a:avLst>
          </a:prstGeom>
          <a:solidFill>
            <a:srgbClr val="1A2B4C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711200" y="3454400"/>
            <a:ext cx="264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Aplicación móvil del paciente: su historial dental, siempre a la mano.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860800" y="1168400"/>
            <a:ext cx="2362200" cy="13716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3860800" y="1168400"/>
            <a:ext cx="50700" cy="13716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4000" y="1320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4445000" y="1320800"/>
            <a:ext cx="167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Odontograma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4064000" y="1676400"/>
            <a:ext cx="1981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Interactivo, con 32 piezas y nomenclatura FDI.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324600" y="1168400"/>
            <a:ext cx="2362200" cy="13716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324600" y="1168400"/>
            <a:ext cx="50700" cy="13716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800" y="1320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908800" y="1320800"/>
            <a:ext cx="167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Ingesta OCR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527800" y="1676400"/>
            <a:ext cx="1981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Lectura de presupuestos con validación humana antes de guardar.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860800" y="2692400"/>
            <a:ext cx="2362200" cy="13716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3860800" y="2692400"/>
            <a:ext cx="50700" cy="13716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4000" y="2844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4445000" y="2844800"/>
            <a:ext cx="167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Prevención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064000" y="3200400"/>
            <a:ext cx="1981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Asistente preventivo con pendientes y recordatorios.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324600" y="2692400"/>
            <a:ext cx="2362200" cy="1371600"/>
          </a:xfrm>
          <a:prstGeom prst="roundRect">
            <a:avLst>
              <a:gd fmla="val 7407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6324600" y="2692400"/>
            <a:ext cx="50700" cy="13716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7800" y="2844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908800" y="2844800"/>
            <a:ext cx="1676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Ficha PDF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527800" y="3200400"/>
            <a:ext cx="19812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Exportable para compartir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08000" y="4191000"/>
            <a:ext cx="8178900" cy="5079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11200" y="4292600"/>
            <a:ext cx="126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Documento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2006600" y="4445000"/>
            <a:ext cx="431700" cy="0"/>
          </a:xfrm>
          <a:prstGeom prst="straightConnector1">
            <a:avLst/>
          </a:prstGeom>
          <a:noFill/>
          <a:ln cap="flat" cmpd="sng" w="1905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19"/>
          <p:cNvSpPr txBox="1"/>
          <p:nvPr/>
        </p:nvSpPr>
        <p:spPr>
          <a:xfrm>
            <a:off x="2489200" y="4292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Extracción OCR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9"/>
          <p:cNvCxnSpPr/>
          <p:nvPr/>
        </p:nvCxnSpPr>
        <p:spPr>
          <a:xfrm>
            <a:off x="3759200" y="4445000"/>
            <a:ext cx="431700" cy="0"/>
          </a:xfrm>
          <a:prstGeom prst="straightConnector1">
            <a:avLst/>
          </a:prstGeom>
          <a:noFill/>
          <a:ln cap="flat" cmpd="sng" w="1905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19"/>
          <p:cNvSpPr txBox="1"/>
          <p:nvPr/>
        </p:nvSpPr>
        <p:spPr>
          <a:xfrm>
            <a:off x="4241800" y="4292600"/>
            <a:ext cx="132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Validación humana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5613400" y="4445000"/>
            <a:ext cx="431700" cy="0"/>
          </a:xfrm>
          <a:prstGeom prst="straightConnector1">
            <a:avLst/>
          </a:prstGeom>
          <a:noFill/>
          <a:ln cap="flat" cmpd="sng" w="1905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19"/>
          <p:cNvSpPr txBox="1"/>
          <p:nvPr/>
        </p:nvSpPr>
        <p:spPr>
          <a:xfrm>
            <a:off x="6096000" y="4292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Ficha clínica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315200" y="4267200"/>
            <a:ext cx="1219200" cy="355500"/>
          </a:xfrm>
          <a:prstGeom prst="roundRect">
            <a:avLst>
              <a:gd fmla="val 50000" name="adj"/>
            </a:avLst>
          </a:prstGeom>
          <a:solidFill>
            <a:srgbClr val="FF6B6B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315200" y="4267200"/>
            <a:ext cx="12192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Patient-Centered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08000" y="4800600"/>
            <a:ext cx="8178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DentalTrack transforma documentos dispersos en un historial personal trazable y portable.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0888" y="1258025"/>
            <a:ext cx="2262125" cy="22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/>
          <p:nvPr/>
        </p:nvSpPr>
        <p:spPr>
          <a:xfrm>
            <a:off x="508000" y="3009850"/>
            <a:ext cx="3962400" cy="9144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08000" y="355600"/>
            <a:ext cx="8127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200"/>
              <a:buFont typeface="Trebuchet MS"/>
              <a:buNone/>
            </a:pPr>
            <a:r>
              <a:rPr b="1" i="0" lang="es" sz="22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4. Metodología, plan de trabajo y roles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08000" y="812800"/>
            <a:ext cx="81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B2AA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20B2AA"/>
                </a:solidFill>
                <a:latin typeface="Calibri"/>
                <a:ea typeface="Calibri"/>
                <a:cs typeface="Calibri"/>
                <a:sym typeface="Calibri"/>
              </a:rPr>
              <a:t>Scrum adaptado al contexto académico</a:t>
            </a:r>
            <a:r>
              <a:rPr b="0" i="0" lang="es" sz="1200" u="none" cap="none" strike="noStrike">
                <a:solidFill>
                  <a:srgbClr val="5A646E"/>
                </a:solidFill>
                <a:latin typeface="Calibri"/>
                <a:ea typeface="Calibri"/>
                <a:cs typeface="Calibri"/>
                <a:sym typeface="Calibri"/>
              </a:rPr>
              <a:t> — 18 semanas, sprints quincenales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08000" y="1168400"/>
            <a:ext cx="8127900" cy="1498500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08000" y="1168400"/>
            <a:ext cx="50700" cy="14985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0"/>
          <p:cNvCxnSpPr/>
          <p:nvPr/>
        </p:nvCxnSpPr>
        <p:spPr>
          <a:xfrm>
            <a:off x="965150" y="1885826"/>
            <a:ext cx="7365900" cy="0"/>
          </a:xfrm>
          <a:prstGeom prst="straightConnector1">
            <a:avLst/>
          </a:prstGeom>
          <a:noFill/>
          <a:ln cap="flat" cmpd="sng" w="2540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20"/>
          <p:cNvSpPr/>
          <p:nvPr/>
        </p:nvSpPr>
        <p:spPr>
          <a:xfrm>
            <a:off x="863550" y="1784226"/>
            <a:ext cx="203100" cy="203100"/>
          </a:xfrm>
          <a:prstGeom prst="ellipse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3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609550" y="2089026"/>
            <a:ext cx="126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Product Backlog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285950" y="1784226"/>
            <a:ext cx="203100" cy="203100"/>
          </a:xfrm>
          <a:prstGeom prst="ellipse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7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031950" y="2089026"/>
            <a:ext cx="126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Planificación de sprint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708350" y="1784226"/>
            <a:ext cx="203100" cy="203100"/>
          </a:xfrm>
          <a:prstGeom prst="ellipse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21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3454350" y="2089026"/>
            <a:ext cx="126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Desarrollo y prototipado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130750" y="1784226"/>
            <a:ext cx="203100" cy="203100"/>
          </a:xfrm>
          <a:prstGeom prst="ellipse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45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4876750" y="2089026"/>
            <a:ext cx="126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553150" y="1784226"/>
            <a:ext cx="203100" cy="203100"/>
          </a:xfrm>
          <a:prstGeom prst="ellipse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69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299150" y="2089026"/>
            <a:ext cx="1269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Revisión y retrospectiva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975550" y="1784226"/>
            <a:ext cx="203100" cy="2031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9350" y="1377826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7619950" y="2089026"/>
            <a:ext cx="9144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Incremento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08000" y="3009850"/>
            <a:ext cx="50700" cy="9144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38200" y="3086050"/>
            <a:ext cx="269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Leo </a:t>
            </a:r>
            <a:r>
              <a:rPr b="1" lang="es" sz="1300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Gutiérrez</a:t>
            </a: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s" sz="1000">
                <a:solidFill>
                  <a:srgbClr val="20B2AA"/>
                </a:solidFill>
                <a:latin typeface="Calibri"/>
                <a:ea typeface="Calibri"/>
                <a:cs typeface="Calibri"/>
                <a:sym typeface="Calibri"/>
              </a:rPr>
              <a:t>Tech Lead &amp; Full-Stack / IA</a:t>
            </a:r>
            <a:endParaRPr b="1" sz="1300">
              <a:solidFill>
                <a:srgbClr val="1A2B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38200" y="3378150"/>
            <a:ext cx="3369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00"/>
              <a:buFont typeface="Calibri"/>
              <a:buNone/>
            </a:pPr>
            <a:r>
              <a:rPr b="0" i="0" lang="es" sz="9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Arquitectura cloud, PostgreSQL/Supabase, React Native, API y pipeline OCR / Visión Artificial.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08000" y="4267200"/>
            <a:ext cx="55881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6E"/>
              </a:buClr>
              <a:buSzPts val="900"/>
              <a:buFont typeface="Calibri"/>
              <a:buNone/>
            </a:pPr>
            <a:r>
              <a:rPr b="1" i="0" lang="es" sz="900" u="none" cap="none" strike="noStrike">
                <a:solidFill>
                  <a:srgbClr val="5A646E"/>
                </a:solidFill>
                <a:latin typeface="Calibri"/>
                <a:ea typeface="Calibri"/>
                <a:cs typeface="Calibri"/>
                <a:sym typeface="Calibri"/>
              </a:rPr>
              <a:t>Gobernanza:</a:t>
            </a:r>
            <a:r>
              <a:rPr b="0" i="0" lang="es" sz="900" u="none" cap="none" strike="noStrike">
                <a:solidFill>
                  <a:srgbClr val="5A646E"/>
                </a:solidFill>
                <a:latin typeface="Calibri"/>
                <a:ea typeface="Calibri"/>
                <a:cs typeface="Calibri"/>
                <a:sym typeface="Calibri"/>
              </a:rPr>
              <a:t> Git, criterios de aceptación, trazabilidad de entregables y control de cronograma.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622800" y="3009850"/>
            <a:ext cx="3962400" cy="91440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4622800" y="3009850"/>
            <a:ext cx="5070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953000" y="3086050"/>
            <a:ext cx="326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lang="es" sz="1300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Ignacio Contreras </a:t>
            </a:r>
            <a:r>
              <a:rPr b="1" lang="es" sz="10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UI/UX Lead &amp; QA / Testing Lead</a:t>
            </a:r>
            <a:endParaRPr b="1" sz="1300">
              <a:solidFill>
                <a:srgbClr val="1A2B4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953000" y="3378150"/>
            <a:ext cx="3369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00"/>
              <a:buFont typeface="Calibri"/>
              <a:buNone/>
            </a:pPr>
            <a:r>
              <a:rPr lang="es" sz="9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Figma, arquitectura de información, experiencia de usuario y matriz de pruebas.</a:t>
            </a:r>
            <a:endParaRPr sz="9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/>
          <p:nvPr/>
        </p:nvSpPr>
        <p:spPr>
          <a:xfrm>
            <a:off x="508000" y="381000"/>
            <a:ext cx="812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400"/>
              <a:buFont typeface="Trebuchet MS"/>
              <a:buNone/>
            </a:pPr>
            <a:r>
              <a:rPr b="1" i="0" lang="es" sz="24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5. Mapa tecnológico y arquitectura de software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08000" y="812800"/>
            <a:ext cx="8127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26E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5A626E"/>
                </a:solidFill>
                <a:latin typeface="Calibri"/>
                <a:ea typeface="Calibri"/>
                <a:cs typeface="Calibri"/>
                <a:sym typeface="Calibri"/>
              </a:rPr>
              <a:t>Cliente-servidor desacoplada: presentación, lógica, persistencia y procesamiento documental separados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08000" y="1270000"/>
            <a:ext cx="2540100" cy="1778100"/>
          </a:xfrm>
          <a:prstGeom prst="roundRect">
            <a:avLst>
              <a:gd fmla="val 5714" name="adj"/>
            </a:avLst>
          </a:prstGeom>
          <a:solidFill>
            <a:srgbClr val="1A2B4C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3" name="Google Shape;2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447800"/>
            <a:ext cx="330200" cy="3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1143000" y="1473200"/>
            <a:ext cx="177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Cliente móvil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11200" y="1905000"/>
            <a:ext cx="2159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1E8F0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E1E8F0"/>
                </a:solidFill>
                <a:latin typeface="Calibri"/>
                <a:ea typeface="Calibri"/>
                <a:cs typeface="Calibri"/>
                <a:sym typeface="Calibri"/>
              </a:rPr>
              <a:t>• React Native + Expo</a:t>
            </a:r>
            <a:br>
              <a:rPr b="0" i="0" lang="es" sz="1150" u="none" cap="none" strike="noStrike">
                <a:solidFill>
                  <a:srgbClr val="E1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1150" u="none" cap="none" strike="noStrike">
                <a:solidFill>
                  <a:srgbClr val="E1E8F0"/>
                </a:solidFill>
                <a:latin typeface="Calibri"/>
                <a:ea typeface="Calibri"/>
                <a:cs typeface="Calibri"/>
                <a:sym typeface="Calibri"/>
              </a:rPr>
              <a:t>• TypeScript</a:t>
            </a:r>
            <a:br>
              <a:rPr b="0" i="0" lang="es" sz="1150" u="none" cap="none" strike="noStrike">
                <a:solidFill>
                  <a:srgbClr val="E1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1150" u="none" cap="none" strike="noStrike">
                <a:solidFill>
                  <a:srgbClr val="E1E8F0"/>
                </a:solidFill>
                <a:latin typeface="Calibri"/>
                <a:ea typeface="Calibri"/>
                <a:cs typeface="Calibri"/>
                <a:sym typeface="Calibri"/>
              </a:rPr>
              <a:t>• Odontograma: 32 piezas, nomenclatura FDI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064000" y="1270000"/>
            <a:ext cx="4622700" cy="126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20B2A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14478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673600" y="1460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400"/>
              <a:buFont typeface="Trebuchet MS"/>
              <a:buNone/>
            </a:pPr>
            <a:r>
              <a:rPr b="1" i="0" lang="es" sz="14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 / Nube — Supabase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267200" y="1778000"/>
            <a:ext cx="42165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PostgreSQL: modelo relacional normalizado</a:t>
            </a:r>
            <a:b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Autenticación y autorización por usuario</a:t>
            </a:r>
            <a:b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Storage: radiografías en buckets privados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064000" y="2768600"/>
            <a:ext cx="4622700" cy="965100"/>
          </a:xfrm>
          <a:prstGeom prst="roundRect">
            <a:avLst>
              <a:gd fmla="val 10526" name="adj"/>
            </a:avLst>
          </a:prstGeom>
          <a:solidFill>
            <a:srgbClr val="FF6B6B">
              <a:alpha val="10200"/>
            </a:srgbClr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7200" y="2921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4673600" y="29337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400"/>
              <a:buFont typeface="Trebuchet MS"/>
              <a:buNone/>
            </a:pPr>
            <a:r>
              <a:rPr b="1" i="0" lang="es" sz="14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 inteligente (desacoplado)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267200" y="3238500"/>
            <a:ext cx="42165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Microservicio OCR + LLM Parser</a:t>
            </a:r>
            <a:b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115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Extracción estructurada de documentos clínicos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508000" y="3276600"/>
            <a:ext cx="2540100" cy="838200"/>
          </a:xfrm>
          <a:prstGeom prst="roundRect">
            <a:avLst>
              <a:gd fmla="val 12121" name="adj"/>
            </a:avLst>
          </a:prstGeom>
          <a:solidFill>
            <a:srgbClr val="FFFFFF"/>
          </a:solidFill>
          <a:ln cap="flat" cmpd="sng" w="12700">
            <a:solidFill>
              <a:srgbClr val="20B2A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08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08000" y="3276600"/>
            <a:ext cx="50700" cy="8382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85800" y="3378200"/>
            <a:ext cx="2235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Integración: </a:t>
            </a: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app móvil → API → PostgreSQL / Storage; pipeline documental independiente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21"/>
          <p:cNvCxnSpPr/>
          <p:nvPr/>
        </p:nvCxnSpPr>
        <p:spPr>
          <a:xfrm>
            <a:off x="3048000" y="1905000"/>
            <a:ext cx="965100" cy="0"/>
          </a:xfrm>
          <a:prstGeom prst="straightConnector1">
            <a:avLst/>
          </a:prstGeom>
          <a:noFill/>
          <a:ln cap="flat" cmpd="sng" w="25400">
            <a:solidFill>
              <a:srgbClr val="20B2AA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8" name="Google Shape;248;p21"/>
          <p:cNvCxnSpPr/>
          <p:nvPr/>
        </p:nvCxnSpPr>
        <p:spPr>
          <a:xfrm>
            <a:off x="6350000" y="2565400"/>
            <a:ext cx="0" cy="177900"/>
          </a:xfrm>
          <a:prstGeom prst="straightConnector1">
            <a:avLst/>
          </a:prstGeom>
          <a:noFill/>
          <a:ln cap="flat" cmpd="sng" w="25400">
            <a:solidFill>
              <a:srgbClr val="FF6B6B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 txBox="1"/>
          <p:nvPr/>
        </p:nvSpPr>
        <p:spPr>
          <a:xfrm>
            <a:off x="508000" y="406400"/>
            <a:ext cx="812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3000"/>
              <a:buFont typeface="Trebuchet MS"/>
              <a:buNone/>
            </a:pPr>
            <a:r>
              <a:rPr b="1" i="0" lang="es" sz="30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6. Competencias del perfil de egreso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08000" y="11176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08000" y="1117600"/>
            <a:ext cx="50700" cy="1422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600" y="1270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1168400" y="12700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Desarrollo de software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736600" y="16510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App móvil multiplataforma integrada con servicios cloud.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276600" y="11176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3276600" y="1117600"/>
            <a:ext cx="50700" cy="1422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5200" y="1270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3937000" y="12700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3505200" y="16510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PostgreSQL normalizado: pacientes, piezas, eventos y documentos.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045200" y="11176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6045200" y="1117600"/>
            <a:ext cx="50700" cy="1422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3800" y="1270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705600" y="12700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Aseguramiento de calidad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6273800" y="16510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Pruebas unitarias, de integración, caja negra y usabilidad.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08000" y="26924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508000" y="2692400"/>
            <a:ext cx="50700" cy="1422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600" y="28448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1168400" y="28448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Gestión de proyectos 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736600" y="32258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Scrum adaptado: backlog, sprints, Git e hitos.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276600" y="26924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3276600" y="2692400"/>
            <a:ext cx="50700" cy="14223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5200" y="28448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3937000" y="28448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e integración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3505200" y="32258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Componentes desacoplados comunicados vía API y servicios.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6045200" y="2692400"/>
            <a:ext cx="2603400" cy="14223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1A2B4C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2"/>
          <p:cNvSpPr/>
          <p:nvPr/>
        </p:nvSpPr>
        <p:spPr>
          <a:xfrm>
            <a:off x="6045200" y="2692400"/>
            <a:ext cx="50700" cy="1422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73800" y="28448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6705600" y="2844800"/>
            <a:ext cx="1841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 esperado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6273800" y="3225800"/>
            <a:ext cx="218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Evidencia técnica y de gestión alineada con Ing. en Informática.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6600" y="44196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1" name="Google Shape;2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88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000" y="2540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1041400" y="228600"/>
            <a:ext cx="635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7. Riesgos y mitigación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08000" y="1168400"/>
            <a:ext cx="8127900" cy="9144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08000" y="1168400"/>
            <a:ext cx="63600" cy="9144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736600" y="1320800"/>
            <a:ext cx="888900" cy="254100"/>
          </a:xfrm>
          <a:prstGeom prst="roundRect">
            <a:avLst>
              <a:gd fmla="val 50000" name="adj"/>
            </a:avLst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36600" y="1346200"/>
            <a:ext cx="888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00" y="16510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1828800" y="1270000"/>
            <a:ext cx="3048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Riesgo: 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variabilidad documental para OCR (órdenes ilegibles o dispares).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23"/>
          <p:cNvCxnSpPr/>
          <p:nvPr/>
        </p:nvCxnSpPr>
        <p:spPr>
          <a:xfrm>
            <a:off x="5029200" y="1346200"/>
            <a:ext cx="0" cy="558900"/>
          </a:xfrm>
          <a:prstGeom prst="straightConnector1">
            <a:avLst/>
          </a:prstGeom>
          <a:noFill/>
          <a:ln cap="flat" cmpd="sng" w="19050">
            <a:solidFill>
              <a:srgbClr val="20B2A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01" name="Google Shape;30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7000" y="1295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/>
          <p:nvPr/>
        </p:nvSpPr>
        <p:spPr>
          <a:xfrm>
            <a:off x="5511800" y="1244600"/>
            <a:ext cx="302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Preprocesamiento + extracción asistida + revisión humana + confirmación explícita.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508000" y="2235200"/>
            <a:ext cx="8127900" cy="9144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508000" y="2235200"/>
            <a:ext cx="6360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736600" y="2387600"/>
            <a:ext cx="888900" cy="254100"/>
          </a:xfrm>
          <a:prstGeom prst="roundRect">
            <a:avLst>
              <a:gd fmla="val 50000" name="adj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736600" y="2413000"/>
            <a:ext cx="888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600" y="27178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3"/>
          <p:cNvSpPr txBox="1"/>
          <p:nvPr/>
        </p:nvSpPr>
        <p:spPr>
          <a:xfrm>
            <a:off x="1828800" y="2336800"/>
            <a:ext cx="3048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Riesgo: 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dependencia de integraciones con clínicas.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3"/>
          <p:cNvCxnSpPr/>
          <p:nvPr/>
        </p:nvCxnSpPr>
        <p:spPr>
          <a:xfrm>
            <a:off x="5029200" y="2413000"/>
            <a:ext cx="0" cy="558900"/>
          </a:xfrm>
          <a:prstGeom prst="straightConnector1">
            <a:avLst/>
          </a:prstGeom>
          <a:noFill/>
          <a:ln cap="flat" cmpd="sng" w="19050">
            <a:solidFill>
              <a:srgbClr val="20B2A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10" name="Google Shape;31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7000" y="23622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5511800" y="2311400"/>
            <a:ext cx="302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Arquitectura B2C centrada en el paciente: funciona sin ERP clínico.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508000" y="3302000"/>
            <a:ext cx="8127900" cy="9144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508000" y="3302000"/>
            <a:ext cx="63600" cy="9144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736600" y="3454400"/>
            <a:ext cx="888900" cy="254100"/>
          </a:xfrm>
          <a:prstGeom prst="roundRect">
            <a:avLst>
              <a:gd fmla="val 50000" name="adj"/>
            </a:avLst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736600" y="3479800"/>
            <a:ext cx="8889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TRANSV.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6600" y="37846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1828800" y="3403600"/>
            <a:ext cx="3048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1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Riesgo transversal: </a:t>
            </a: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datos clínicos incorrectos.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23"/>
          <p:cNvCxnSpPr/>
          <p:nvPr/>
        </p:nvCxnSpPr>
        <p:spPr>
          <a:xfrm>
            <a:off x="5029200" y="3479800"/>
            <a:ext cx="0" cy="558900"/>
          </a:xfrm>
          <a:prstGeom prst="straightConnector1">
            <a:avLst/>
          </a:prstGeom>
          <a:noFill/>
          <a:ln cap="flat" cmpd="sng" w="19050">
            <a:solidFill>
              <a:srgbClr val="20B2A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19" name="Google Shape;3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07000" y="3429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5511800" y="3378200"/>
            <a:ext cx="302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Sin automatización ciega: trazabilidad de fuente y validación humana.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 txBox="1"/>
          <p:nvPr/>
        </p:nvSpPr>
        <p:spPr>
          <a:xfrm>
            <a:off x="507900" y="584200"/>
            <a:ext cx="8178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2650"/>
              <a:buFont typeface="Trebuchet MS"/>
              <a:buNone/>
            </a:pPr>
            <a:r>
              <a:rPr b="1" i="0" lang="es" sz="265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8. Seguridad y privacidad de datos médicos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482550" y="1064800"/>
            <a:ext cx="817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Protección por capas sobre datos clínicos sensibles, desde el transporte hasta el acceso por recurso.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57200" y="1905000"/>
            <a:ext cx="2641500" cy="1625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457200" y="1905000"/>
            <a:ext cx="50700" cy="16257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082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 txBox="1"/>
          <p:nvPr/>
        </p:nvSpPr>
        <p:spPr>
          <a:xfrm>
            <a:off x="1066800" y="2082800"/>
            <a:ext cx="185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En tránsito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 txBox="1"/>
          <p:nvPr/>
        </p:nvSpPr>
        <p:spPr>
          <a:xfrm>
            <a:off x="685800" y="2463800"/>
            <a:ext cx="223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Cifrado HTTPS/TLS en toda comunicación entre cliente, API y servicios externos.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3251200" y="1905000"/>
            <a:ext cx="2641500" cy="1625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3251200" y="1905000"/>
            <a:ext cx="50700" cy="16257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9800" y="2082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 txBox="1"/>
          <p:nvPr/>
        </p:nvSpPr>
        <p:spPr>
          <a:xfrm>
            <a:off x="3860800" y="2082800"/>
            <a:ext cx="18543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En reposo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3479800" y="2463800"/>
            <a:ext cx="223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Cifrado gestionado por la infraestructura de persistencia. Storage privado: radiografías y documentos nunca en buckets públicos.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045200" y="1905000"/>
            <a:ext cx="2641500" cy="16257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EE2E6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6045200" y="1905000"/>
            <a:ext cx="50700" cy="16257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3800" y="208280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/>
          <p:nvPr/>
        </p:nvSpPr>
        <p:spPr>
          <a:xfrm>
            <a:off x="6654800" y="20828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Control de acceso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 txBox="1"/>
          <p:nvPr/>
        </p:nvSpPr>
        <p:spPr>
          <a:xfrm>
            <a:off x="6273800" y="2463800"/>
            <a:ext cx="223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Autenticación y autorización por recurso. PostgreSQL + RLS restringe registros según identidad y políticas.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457200" y="3759200"/>
            <a:ext cx="381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300"/>
              <a:buFont typeface="Trebuchet MS"/>
              <a:buNone/>
            </a:pPr>
            <a:r>
              <a:rPr b="1" i="0" lang="es" sz="13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Trazabilidad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457200" y="4064000"/>
            <a:ext cx="1650900" cy="355500"/>
          </a:xfrm>
          <a:prstGeom prst="roundRect">
            <a:avLst>
              <a:gd fmla="val 28571" name="adj"/>
            </a:avLst>
          </a:prstGeom>
          <a:solidFill>
            <a:srgbClr val="1A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5" name="Google Shape;3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4200" y="414020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4"/>
          <p:cNvSpPr txBox="1"/>
          <p:nvPr/>
        </p:nvSpPr>
        <p:spPr>
          <a:xfrm>
            <a:off x="863600" y="4064000"/>
            <a:ext cx="1168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Documento fuente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2108200" y="4241800"/>
            <a:ext cx="406500" cy="0"/>
          </a:xfrm>
          <a:prstGeom prst="straightConnector1">
            <a:avLst/>
          </a:prstGeom>
          <a:noFill/>
          <a:ln cap="flat" cmpd="sng" w="2540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24"/>
          <p:cNvSpPr/>
          <p:nvPr/>
        </p:nvSpPr>
        <p:spPr>
          <a:xfrm>
            <a:off x="2565400" y="4064000"/>
            <a:ext cx="1650900" cy="355500"/>
          </a:xfrm>
          <a:prstGeom prst="roundRect">
            <a:avLst>
              <a:gd fmla="val 28571" name="adj"/>
            </a:avLst>
          </a:prstGeom>
          <a:solidFill>
            <a:srgbClr val="1A2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92400" y="414020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4"/>
          <p:cNvSpPr txBox="1"/>
          <p:nvPr/>
        </p:nvSpPr>
        <p:spPr>
          <a:xfrm>
            <a:off x="2971800" y="4064000"/>
            <a:ext cx="11685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extraídos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24"/>
          <p:cNvCxnSpPr/>
          <p:nvPr/>
        </p:nvCxnSpPr>
        <p:spPr>
          <a:xfrm>
            <a:off x="4216400" y="4241800"/>
            <a:ext cx="406500" cy="0"/>
          </a:xfrm>
          <a:prstGeom prst="straightConnector1">
            <a:avLst/>
          </a:prstGeom>
          <a:noFill/>
          <a:ln cap="flat" cmpd="sng" w="25400">
            <a:solidFill>
              <a:srgbClr val="20B2A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" name="Google Shape;352;p24"/>
          <p:cNvSpPr/>
          <p:nvPr/>
        </p:nvSpPr>
        <p:spPr>
          <a:xfrm>
            <a:off x="4673600" y="4064000"/>
            <a:ext cx="1905000" cy="355500"/>
          </a:xfrm>
          <a:prstGeom prst="roundRect">
            <a:avLst>
              <a:gd fmla="val 28571" name="adj"/>
            </a:avLst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00600" y="4140200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 txBox="1"/>
          <p:nvPr/>
        </p:nvSpPr>
        <p:spPr>
          <a:xfrm>
            <a:off x="5080000" y="4064000"/>
            <a:ext cx="14223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1A2B4C"/>
                </a:solidFill>
                <a:latin typeface="Calibri"/>
                <a:ea typeface="Calibri"/>
                <a:cs typeface="Calibri"/>
                <a:sym typeface="Calibri"/>
              </a:rPr>
              <a:t>Confirmado por usuario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6832600" y="3759200"/>
            <a:ext cx="1854300" cy="660300"/>
          </a:xfrm>
          <a:prstGeom prst="roundRect">
            <a:avLst>
              <a:gd fmla="val 15385" name="adj"/>
            </a:avLst>
          </a:prstGeom>
          <a:solidFill>
            <a:srgbClr val="20B2AA">
              <a:alpha val="10200"/>
            </a:srgbClr>
          </a:solidFill>
          <a:ln cap="flat" cmpd="sng" w="12700">
            <a:solidFill>
              <a:srgbClr val="20B2A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9600" y="3962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7264400" y="3835400"/>
            <a:ext cx="134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b="0" i="0" lang="es" sz="11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Minimización: almacenar solo lo necesario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457200" y="4597400"/>
            <a:ext cx="8229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Calibri"/>
              <a:buNone/>
            </a:pPr>
            <a:r>
              <a:rPr b="0" i="1" lang="es" sz="12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“La seguridad se diseña desde la arquitectura, no como un agregado final.”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 txBox="1"/>
          <p:nvPr/>
        </p:nvSpPr>
        <p:spPr>
          <a:xfrm>
            <a:off x="508000" y="406400"/>
            <a:ext cx="60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3600"/>
              <a:buFont typeface="Trebuchet MS"/>
              <a:buNone/>
            </a:pPr>
            <a:r>
              <a:rPr b="1" i="0" lang="es" sz="36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9. Modelo de negocio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508000" y="1219200"/>
            <a:ext cx="3911700" cy="1498500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20B2A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508000" y="1219200"/>
            <a:ext cx="50700" cy="14985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224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1219200" y="1422400"/>
            <a:ext cx="29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Propuesta B2C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762000" y="1828800"/>
            <a:ext cx="34290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El paciente controla su historial dental personal, sin depender de licencias a clínicas.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4724400" y="1219200"/>
            <a:ext cx="3911700" cy="1498500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4724400" y="1219200"/>
            <a:ext cx="50700" cy="14985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400" y="14224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 txBox="1"/>
          <p:nvPr/>
        </p:nvSpPr>
        <p:spPr>
          <a:xfrm>
            <a:off x="5435600" y="1422400"/>
            <a:ext cx="29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Fuente de 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4978400" y="1828800"/>
            <a:ext cx="34290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00"/>
              <a:buFont typeface="Calibri"/>
              <a:buNone/>
            </a:pPr>
            <a:r>
              <a:rPr b="0" i="0" lang="es" sz="13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Organización, trazabilidad, portabilidad y prevención del cuidado dental.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08000" y="2921000"/>
            <a:ext cx="3911700" cy="1498500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508000" y="2921000"/>
            <a:ext cx="50700" cy="1498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24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5"/>
          <p:cNvSpPr txBox="1"/>
          <p:nvPr/>
        </p:nvSpPr>
        <p:spPr>
          <a:xfrm>
            <a:off x="1219200" y="3124200"/>
            <a:ext cx="29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Monetización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 txBox="1"/>
          <p:nvPr/>
        </p:nvSpPr>
        <p:spPr>
          <a:xfrm>
            <a:off x="762000" y="3454400"/>
            <a:ext cx="34290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Char char="▸"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Suscripción freemium / premium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Char char="▸"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Almacenamiento ampliado y exportación avanzada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Char char="▸"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Alertas inteligentes e integraciones futuras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4724400" y="2921000"/>
            <a:ext cx="3911700" cy="1498500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4724400" y="2921000"/>
            <a:ext cx="50700" cy="1498500"/>
          </a:xfrm>
          <a:prstGeom prst="rect">
            <a:avLst/>
          </a:prstGeom>
          <a:solidFill>
            <a:srgbClr val="20B2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8400" y="31242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5"/>
          <p:cNvSpPr txBox="1"/>
          <p:nvPr/>
        </p:nvSpPr>
        <p:spPr>
          <a:xfrm>
            <a:off x="5435600" y="3124200"/>
            <a:ext cx="299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1500"/>
              <a:buFont typeface="Trebuchet MS"/>
              <a:buNone/>
            </a:pPr>
            <a:r>
              <a:rPr b="1" i="0" lang="es" sz="150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Crecimiento escalable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4978400" y="34544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Calibri"/>
              <a:buNone/>
            </a:pPr>
            <a:r>
              <a:rPr b="0" i="0" lang="es" sz="12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Adopción por pacientes con tratamientos prolongados.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8400" y="3911600"/>
            <a:ext cx="33020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/>
          <p:nvPr/>
        </p:nvSpPr>
        <p:spPr>
          <a:xfrm>
            <a:off x="508000" y="381000"/>
            <a:ext cx="8127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4C"/>
              </a:buClr>
              <a:buSzPts val="3650"/>
              <a:buFont typeface="Trebuchet MS"/>
              <a:buNone/>
            </a:pPr>
            <a:r>
              <a:rPr b="1" i="0" lang="es" sz="3650" u="none" cap="none" strike="noStrike">
                <a:solidFill>
                  <a:srgbClr val="1A2B4C"/>
                </a:solidFill>
                <a:latin typeface="Trebuchet MS"/>
                <a:ea typeface="Trebuchet MS"/>
                <a:cs typeface="Trebuchet MS"/>
                <a:sym typeface="Trebuchet MS"/>
              </a:rPr>
              <a:t>10. Mockup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26"/>
          <p:cNvPicPr preferRelativeResize="0"/>
          <p:nvPr/>
        </p:nvPicPr>
        <p:blipFill rotWithShape="1">
          <a:blip r:embed="rId3">
            <a:alphaModFix/>
          </a:blip>
          <a:srcRect b="0" l="0" r="0" t="1497"/>
          <a:stretch/>
        </p:blipFill>
        <p:spPr>
          <a:xfrm>
            <a:off x="957525" y="1076825"/>
            <a:ext cx="7228976" cy="400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4C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8" name="Google Shape;3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7"/>
          <p:cNvPicPr preferRelativeResize="0"/>
          <p:nvPr/>
        </p:nvPicPr>
        <p:blipFill rotWithShape="1">
          <a:blip r:embed="rId4">
            <a:alphaModFix/>
          </a:blip>
          <a:srcRect b="0" l="19136" r="19136" t="0"/>
          <a:stretch/>
        </p:blipFill>
        <p:spPr>
          <a:xfrm>
            <a:off x="5969000" y="0"/>
            <a:ext cx="3175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9000" y="0"/>
            <a:ext cx="3175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7"/>
          <p:cNvSpPr txBox="1"/>
          <p:nvPr/>
        </p:nvSpPr>
        <p:spPr>
          <a:xfrm>
            <a:off x="508000" y="508000"/>
            <a:ext cx="507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11. Conclusión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08000" y="1270000"/>
            <a:ext cx="5079900" cy="2133600"/>
          </a:xfrm>
          <a:prstGeom prst="roundRect">
            <a:avLst>
              <a:gd fmla="val 4762" name="adj"/>
            </a:avLst>
          </a:prstGeom>
          <a:solidFill>
            <a:srgbClr val="FFFFFF">
              <a:alpha val="7060"/>
            </a:srgbClr>
          </a:solidFill>
          <a:ln cap="flat" cmpd="sng" w="25400">
            <a:solidFill>
              <a:srgbClr val="20B2A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7"/>
          <p:cNvSpPr txBox="1"/>
          <p:nvPr/>
        </p:nvSpPr>
        <p:spPr>
          <a:xfrm>
            <a:off x="711200" y="1422400"/>
            <a:ext cx="4698900" cy="1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▸"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Aborda una brecha concreta: la dispersión del historial odontológico personal.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▸"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Prioriza al paciente: odontograma interactivo, OCR asistido, trazabilidad y exportación portable.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▸"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viable, desacoplada y escalable para defensa fase 1.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▸"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Alineada con competencias de software, datos, QA, gestión y arquitectura.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▸"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 paso: prototipar y validar con foco en usabilidad, seguridad y confiabilidad.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08000" y="3657600"/>
            <a:ext cx="5079900" cy="1143000"/>
          </a:xfrm>
          <a:prstGeom prst="roundRect">
            <a:avLst>
              <a:gd fmla="val 8889" name="adj"/>
            </a:avLst>
          </a:prstGeom>
          <a:solidFill>
            <a:srgbClr val="20B2AA">
              <a:alpha val="14900"/>
            </a:srgbClr>
          </a:solidFill>
          <a:ln>
            <a:noFill/>
          </a:ln>
          <a:effectLst>
            <a:outerShdw blurRad="152400" rotWithShape="0" algn="bl" dir="10800000" dist="254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600" y="3962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7"/>
          <p:cNvSpPr txBox="1"/>
          <p:nvPr/>
        </p:nvSpPr>
        <p:spPr>
          <a:xfrm>
            <a:off x="1397000" y="3784600"/>
            <a:ext cx="39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B2AA"/>
              </a:buClr>
              <a:buSzPts val="2200"/>
              <a:buFont typeface="Trebuchet MS"/>
              <a:buNone/>
            </a:pPr>
            <a:r>
              <a:rPr b="1" i="0" lang="es" sz="2200" u="none" cap="none" strike="noStrike">
                <a:solidFill>
                  <a:srgbClr val="20B2AA"/>
                </a:solidFill>
                <a:latin typeface="Trebuchet MS"/>
                <a:ea typeface="Trebuchet MS"/>
                <a:cs typeface="Trebuchet MS"/>
                <a:sym typeface="Trebuchet MS"/>
              </a:rPr>
              <a:t>Muchas gracias.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 txBox="1"/>
          <p:nvPr/>
        </p:nvSpPr>
        <p:spPr>
          <a:xfrm>
            <a:off x="1397000" y="4191000"/>
            <a:ext cx="3936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